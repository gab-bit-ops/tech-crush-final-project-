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D2B"/>
                </a:solidFill>
                <a:latin typeface="+mn-lt"/>
              </a:rPr>
              <a:t>Birth Weight Distribution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Birth 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Normal Birth Weight</c:v>
                </c:pt>
                <c:pt idx="1">
                  <c:v>Low Birth Weight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85.59</c:v>
                </c:pt>
                <c:pt idx="1">
                  <c:v>14.41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n-lt"/>
              </a:rPr>
              <a:t>Adverse Outcomes by Delivery Facility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Adverse Outcomes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D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Public
Hospital</c:v>
                  </c:pt>
                  <c:pt idx="1">
                    <c:v>Primary Health
Centre</c:v>
                  </c:pt>
                  <c:pt idx="2">
                    <c:v>Private
Hospital</c:v>
                  </c:pt>
                  <c:pt idx="3">
                    <c:v>Teaching
Hospital</c:v>
                  </c:pt>
                  <c:pt idx="4">
                    <c:v>Maternity
Centre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119</c:v>
                </c:pt>
                <c:pt idx="1">
                  <c:v>82</c:v>
                </c:pt>
                <c:pt idx="2">
                  <c:v>78</c:v>
                </c:pt>
                <c:pt idx="3">
                  <c:v>34</c:v>
                </c:pt>
                <c:pt idx="4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D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9D6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D2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D2B"/>
                </a:solidFill>
                <a:latin typeface="+mn-lt"/>
              </a:rPr>
              <a:t>Top States — Adverse Maternal Outcomes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Adverse Outcomes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D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Ondo</c:v>
                  </c:pt>
                  <c:pt idx="1">
                    <c:v>Edo</c:v>
                  </c:pt>
                  <c:pt idx="2">
                    <c:v>Imo</c:v>
                  </c:pt>
                  <c:pt idx="3">
                    <c:v>Gombe</c:v>
                  </c:pt>
                  <c:pt idx="4">
                    <c:v>Kano</c:v>
                  </c:pt>
                  <c:pt idx="5">
                    <c:v>Cross River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14</c:v>
                </c:pt>
                <c:pt idx="3">
                  <c:v>13</c:v>
                </c:pt>
                <c:pt idx="4">
                  <c:v>13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D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C9D6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(title)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A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(title)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Maternal Birth Outcome Analysis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 Maternal Birth Outcome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118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Maternal and Neonatal Health Gaps Across Nigerian Regions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245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 Data Analytics Internship  —  Capstone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(Power Query &amp; Pivot Tables)   →   Power BI (DAX &amp; Interactive Dashboard)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what drives adverse maternal and neonatal outcomes in Nigeria, and to identify exactly where government and health-system intervention can have the greatest impact — using real patient-level data rather than assumption.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spans four core business questions, explored end-to-end from raw data to an interactive, decision-ready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546" y="1582826"/>
            <a:ext cx="400507" cy="4005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0" y="1463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Patient Records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80136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 maternal &amp; birth outcome dataset spanning all states and regions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29718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546" y="3045866"/>
            <a:ext cx="400507" cy="4005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Business Questions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32644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Maternal conditions, ANC attendance, delivery outcomes, and pregnancy risk factors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443484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546" y="4508906"/>
            <a:ext cx="400507" cy="4005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4389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States + FCT Covered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472744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state-level and regional comparison across Nigeria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Insight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 cleaning and exploration — Power BI for the final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51660" y="23774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2760" y="2488540"/>
            <a:ext cx="600761" cy="6007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337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Power Query — removed duplicates and trimmed stray spacing and inconsistent category text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2670048"/>
            <a:ext cx="365760" cy="365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00700" y="23774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800" y="2488540"/>
            <a:ext cx="600761" cy="60076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389120" y="3337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438912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PivotTables — tested each business question directly against the cleaned dataset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2" y="2670048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9349740" y="23774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0840" y="2488540"/>
            <a:ext cx="600761" cy="600761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138160" y="33375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8138160" y="3794760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DAX measures, KPI cards, and an interactive dashboard with regional slicers</a:t>
            </a:r>
            <a:endParaRPr lang="en-US" sz="1250" dirty="0"/>
          </a:p>
        </p:txBody>
      </p:sp>
      <p:sp>
        <p:nvSpPr>
          <p:cNvPr id="18" name="Text 11"/>
          <p:cNvSpPr txBox="1"/>
          <p:nvPr/>
        </p:nvSpPr>
        <p:spPr>
          <a:xfrm>
            <a:off x="640080" y="52578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issue caught mid-process: hidden spaces and inconsistent capitalization in text columns (e.g. “Public Hospital ” vs “public hospital”) were silently splitting single categories into duplicates — resolved with Trim + Capitalize transforms in Power Query.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D2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13332" y="1965960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681" y="2057309"/>
            <a:ext cx="493959" cy="4939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Birth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383280" y="16002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D2B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47972" y="1965960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321" y="2057309"/>
            <a:ext cx="493959" cy="49395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834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ANC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17920" y="16002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D2B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82612" y="1965960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961" y="2057309"/>
            <a:ext cx="493959" cy="49395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834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4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Maternal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9052560" y="16002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F3D2B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017252" y="1965960"/>
            <a:ext cx="676656" cy="676656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01" y="2057309"/>
            <a:ext cx="493959" cy="49395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8346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4800" dirty="0"/>
          </a:p>
        </p:txBody>
      </p:sp>
      <p:sp>
        <p:nvSpPr>
          <p:cNvPr id="22" name="Text 16"/>
          <p:cNvSpPr txBox="1"/>
          <p:nvPr/>
        </p:nvSpPr>
        <p:spPr>
          <a:xfrm>
            <a:off x="9189720" y="3931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Neonatal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adverse-outcome rate today sits alongside a 42% ANC gap — the system is absorbing risk that hasn't yet shown up in outcomes.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 Attendance &amp; Birth Weight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1554480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729" y="1623609"/>
            <a:ext cx="373807" cy="37380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629400" y="149961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of babies are born with low birth weight</a:t>
            </a:r>
            <a:endParaRPr lang="en-US" sz="1450" dirty="0"/>
          </a:p>
        </p:txBody>
      </p:sp>
      <p:sp>
        <p:nvSpPr>
          <p:cNvPr id="7" name="Text 3"/>
          <p:cNvSpPr txBox="1"/>
          <p:nvPr/>
        </p:nvSpPr>
        <p:spPr>
          <a:xfrm>
            <a:off x="6629400" y="208483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Mothers with inadequate ANC attendance show a notably higher rate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943600" y="3063240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729" y="3132369"/>
            <a:ext cx="373807" cy="37380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300837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mothers receive inadequate ANC care</a:t>
            </a:r>
            <a:endParaRPr lang="en-US" sz="1450" dirty="0"/>
          </a:p>
        </p:txBody>
      </p:sp>
      <p:sp>
        <p:nvSpPr>
          <p:cNvPr id="11" name="Text 6"/>
          <p:cNvSpPr txBox="1"/>
          <p:nvPr/>
        </p:nvSpPr>
        <p:spPr>
          <a:xfrm>
            <a:off x="6629400" y="359359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 visits are where anaemia, hypertension, and malaria are normally caught early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943600" y="4572000"/>
            <a:ext cx="512064" cy="512064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729" y="4641129"/>
            <a:ext cx="373807" cy="3738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29400" y="4517136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labour &amp; pre-eclampsia</a:t>
            </a:r>
            <a:endParaRPr lang="en-US" sz="1450" dirty="0"/>
          </a:p>
        </p:txBody>
      </p:sp>
      <p:sp>
        <p:nvSpPr>
          <p:cNvPr id="15" name="Text 9"/>
          <p:cNvSpPr txBox="1"/>
          <p:nvPr/>
        </p:nvSpPr>
        <p:spPr>
          <a:xfrm>
            <a:off x="6629400" y="5102352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among the most common recorded delivery complications after low birth weight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Risk Concentrates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173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41732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hospitals carry the highest raw caseload; Ondo, Edo and Imo show the greatest regional concentration of adverse outcomes.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ANC Gap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71907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mobile clinics, community health workers, and reminders to lift the 42% inadequate-ANC rate — prioritizing rural areas.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3317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More Skilled Birth Attendants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7919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training and staffing at Primary Health Centres to close the gap behind the 34% of births with no skilled attendant.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91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Highest-Burden States First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63931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equipment, staffing, and ANC outreach to Ondo, Edo, Imo, Gombe, and Kano before spreading resources evenly nationwide.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2519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Emergency Readiness at Public Hospitals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9943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emergency obstetric protocols where patient volume — and raw adverse-outcome counts — is highest.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2120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Low Birth Weight as an ANC Problem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559552"/>
            <a:ext cx="10241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nutrition and anaemia screening into every ANC visit to address the root cause of the 14.4% low-birth-weight rate.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A4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365760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maternal health system is currently absorbing risk quietly — a 42% ANC gap today is tomorrow's outcome crisis. Closing it is the single highest-leverage action available.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57607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TechCrush Data Analytics Internship  |  Capstone Project  |  Built with Excel &amp; Power 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nalHealthForest">
  <a:themeElements>
    <a:clrScheme name="MaternalHealthForest">
      <a:dk1>
        <a:srgbClr val="1F3D2B"/>
      </a:dk1>
      <a:lt1>
        <a:srgbClr val="FFFFFF"/>
      </a:lt1>
      <a:dk2>
        <a:srgbClr val="2C5F2D"/>
      </a:dk2>
      <a:lt2>
        <a:srgbClr val="EAF2EC"/>
      </a:lt2>
      <a:accent1>
        <a:srgbClr val="E8A33D"/>
      </a:accent1>
      <a:accent2>
        <a:srgbClr val="6B8F71"/>
      </a:accent2>
      <a:accent3>
        <a:srgbClr val="A9C5AE"/>
      </a:accent3>
      <a:accent4>
        <a:srgbClr val="3F6B4F"/>
      </a:accent4>
      <a:accent5>
        <a:srgbClr val="4A4A4A"/>
      </a:accent5>
      <a:accent6>
        <a:srgbClr val="C9D6CC"/>
      </a:accent6>
      <a:hlink>
        <a:srgbClr val="E8A33D"/>
      </a:hlink>
      <a:folHlink>
        <a:srgbClr val="6B8F71"/>
      </a:folHlink>
    </a:clrScheme>
    <a:fontScheme name="MaternalHealthForest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2026-10-19T21:33:48Z</dcterms:created>
  <dcterms:modified xsi:type="dcterms:W3CDTF">2026-10-19T21:33:48Z</dcterms:modified>
</cp:coreProperties>
</file>